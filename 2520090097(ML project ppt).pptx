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bin Bold" panose="020B0604020202020204" charset="0"/>
      <p:regular r:id="rId28"/>
    </p:embeddedFont>
    <p:embeddedFont>
      <p:font typeface="Cabin Medium" panose="020B0604020202020204" charset="0"/>
      <p:regular r:id="rId29"/>
    </p:embeddedFont>
    <p:embeddedFont>
      <p:font typeface="Cabin SemiBold" panose="020B0604020202020204" charset="0"/>
      <p:regular r:id="rId30"/>
    </p:embeddedFont>
    <p:embeddedFont>
      <p:font typeface="Unbounded SemiBold" panose="020B0604020202020204" charset="0"/>
      <p:regular r:id="rId31"/>
    </p:embeddedFont>
    <p:embeddedFont>
      <p:font typeface="Cabin" panose="020B0604020202020204" charset="0"/>
      <p:regular r:id="rId32"/>
    </p:embeddedFont>
    <p:embeddedFont>
      <p:font typeface="Unbounded Medium" panose="020B0604020202020204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806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13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95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72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39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09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46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30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38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94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96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17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6172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1594346"/>
            <a:ext cx="62990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COMPUTER SCIENCE &amp; INFORMATION 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950264"/>
            <a:ext cx="5689458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Travel Time</a:t>
            </a:r>
            <a:endParaRPr lang="en-US" sz="6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Prediction</a:t>
            </a:r>
            <a:endParaRPr lang="en-US" sz="6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89834"/>
            <a:ext cx="5689458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199751"/>
            <a:ext cx="568945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Using Ridge and Lasso Regression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5470227"/>
            <a:ext cx="5689458" cy="778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KLH Bachupally · Academic Year 2026–2027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2520090092 – V. Shiva Venkata Sai · 2520090097 – Vemulapalli Sathvik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2520080016 – Varshith Comple · Guide/Supervisor: [Insert Name]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02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Travel time is shaped by more than distance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80" y="2651720"/>
            <a:ext cx="304792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3261638"/>
            <a:ext cx="355591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Route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09585" y="3703260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Distance and path shape.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17892" y="2473920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2651720"/>
            <a:ext cx="304792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7892" y="3261638"/>
            <a:ext cx="355591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Conditions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317892" y="3703260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Congestion, weather, and time.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026199" y="2505670"/>
            <a:ext cx="355591" cy="3556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26199" y="2988588"/>
            <a:ext cx="355591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Calendar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26199" y="3430210"/>
            <a:ext cx="355591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Day-of-week patterns.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09585" y="4173458"/>
            <a:ext cx="533386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Background of the Project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09585" y="4610001"/>
            <a:ext cx="5333867" cy="904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Travel estimates help commuters plan journeys.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Duration varies with distance, congestion, weather, departure time, and day of week.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48244" y="4173458"/>
            <a:ext cx="533386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Overview of Intelligent Transportation Systems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48244" y="4615081"/>
            <a:ext cx="533386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Machine learning can combine route, traffic, weather, and calendar context to support smarter mobility decisions.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48244" y="5369739"/>
            <a:ext cx="533386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Why Travel Time Prediction Is Needed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248244" y="5811361"/>
            <a:ext cx="533386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Distance-only estimates may miss changing travel conditions.</a:t>
            </a:r>
            <a:endParaRPr lang="en-US" sz="16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818" y="6195933"/>
            <a:ext cx="1607877" cy="662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3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03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527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Distance alone cannot explain an unpredictable journey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54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092920"/>
            <a:ext cx="5333867" cy="1804591"/>
          </a:xfrm>
          <a:prstGeom prst="roundRect">
            <a:avLst>
              <a:gd name="adj" fmla="val 10134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3578" y="2353588"/>
            <a:ext cx="482587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Changing conditions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2795210"/>
            <a:ext cx="482587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Traffic congestion, weather, departure time, and weekday patterns create unexpected delays.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244" y="2092920"/>
            <a:ext cx="5333867" cy="1804591"/>
          </a:xfrm>
          <a:prstGeom prst="roundRect">
            <a:avLst>
              <a:gd name="adj" fmla="val 10134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2237" y="2353588"/>
            <a:ext cx="482587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Data friction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02237" y="2795210"/>
            <a:ext cx="482587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External data may be incomplete, delayed, or inconsistent. New routes and unusual events are difficult to model.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585" y="4202311"/>
            <a:ext cx="10972526" cy="1235670"/>
          </a:xfrm>
          <a:prstGeom prst="roundRect">
            <a:avLst>
              <a:gd name="adj" fmla="val 14800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578" y="4462978"/>
            <a:ext cx="1046453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Who is affected?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3578" y="4904601"/>
            <a:ext cx="1071853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Commuters, students, office workers, delivery services, fleet operators, and travel planners.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5" y="5622131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4B3F02"/>
          </a:solidFill>
          <a:ln/>
        </p:spPr>
      </p:sp>
      <p:sp>
        <p:nvSpPr>
          <p:cNvPr id="15" name="Text 12"/>
          <p:cNvSpPr/>
          <p:nvPr/>
        </p:nvSpPr>
        <p:spPr>
          <a:xfrm>
            <a:off x="812780" y="5881211"/>
            <a:ext cx="1117572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Problem statement: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Build a data-informed way to estimate journey duration from route and contextual conditions.</a:t>
            </a: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279" y="6414591"/>
            <a:ext cx="1076416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75182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04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51540"/>
            <a:ext cx="6908627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42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Better context can make travel planning more informed.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580110"/>
            <a:ext cx="6908627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190028"/>
            <a:ext cx="69086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 practical prediction problem for regularized regression.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5302369"/>
            <a:ext cx="690862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Combining mapping and environmental context can support more predictable decisions, without guaranteeing delay-free travel.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6053217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Ridge and Lasso provide a focused comparison of how regularization behaves with related travel features.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05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From journey inputs to a useful prediction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6081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004040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a web-based system that predicts expected travel duration using Ridge and Lasso Regression and relevant journey conditions.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752030"/>
            <a:ext cx="367100" cy="367109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783" y="2833985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585" y="3247648"/>
            <a:ext cx="3505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Prepare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3689271"/>
            <a:ext cx="350511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Historical travel-time data and relevant features.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19489" y="2752030"/>
            <a:ext cx="402421" cy="402431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5688" y="2851646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19489" y="3282970"/>
            <a:ext cx="340351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Collect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19489" y="3724592"/>
            <a:ext cx="34035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distance plus available traffic and weather information.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2752030"/>
            <a:ext cx="404902" cy="404912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3995" y="2852837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7797" y="3285450"/>
            <a:ext cx="34543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27797" y="3727073"/>
            <a:ext cx="345431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Preprocess and encode model inputs.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9585" y="4593233"/>
            <a:ext cx="418296" cy="418306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783" y="4700786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9585" y="5140047"/>
            <a:ext cx="35051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9585" y="5581670"/>
            <a:ext cx="350511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 Ridge and Lasso; evaluate MAE, RMSE, and R² Score.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19489" y="4593233"/>
            <a:ext cx="404703" cy="404713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5688" y="4693940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19489" y="5126454"/>
            <a:ext cx="71626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Present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419489" y="5568077"/>
            <a:ext cx="716262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 duration, ETA, route, and journey conditions.</a:t>
            </a:r>
            <a:endParaRPr lang="en-US" sz="1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06 ·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Existing approaches vary in data depth and freshness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900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approach trades simplicity, explainability, and current context differently.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42530"/>
          <a:ext cx="10972526" cy="2110429"/>
        </p:xfrm>
        <a:graphic>
          <a:graphicData uri="http://schemas.openxmlformats.org/drawingml/2006/table">
            <a:tbl>
              <a:tblPr/>
              <a:tblGrid>
                <a:gridCol w="2633398"/>
                <a:gridCol w="3072232"/>
                <a:gridCol w="5266896"/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Existing approach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Strength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Limitation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Distance and speed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Simple and fast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Misses changing conditions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Historical average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Easy to explain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May not reflect current traffic or weather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Routing with live context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Uses route and traffic information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Depends on data availability and provider coverage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242242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Coverage and freshness vary; user-specific departure details and changing conditions may not be modeled consistently.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585" y="570863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Common technologies include routing services, traffic feeds, historical travel patterns, and conventional estimation techniques.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07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proposed system connects live context with learned patterns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900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Combine source, destination, day, departure time, route distance, and available traffic and weather context.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942530"/>
            <a:ext cx="367100" cy="367109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783" y="3024485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585" y="3398857"/>
            <a:ext cx="19506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3840480"/>
            <a:ext cx="195069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Collect journey inputs and contextual data.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64969" y="2942530"/>
            <a:ext cx="402421" cy="402431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41167" y="3042146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64969" y="3434179"/>
            <a:ext cx="19506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864969" y="3875802"/>
            <a:ext cx="195069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Transform inputs into model features.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20353" y="2942530"/>
            <a:ext cx="404902" cy="404912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6551" y="3043337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353" y="3436660"/>
            <a:ext cx="195088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Predict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20353" y="3878282"/>
            <a:ext cx="19508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Ridge and Lasso predictions.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75936" y="2942530"/>
            <a:ext cx="418296" cy="418306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134" y="3050084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75936" y="3450054"/>
            <a:ext cx="195069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75936" y="3891677"/>
            <a:ext cx="195069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validation or test performance.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631320" y="2942530"/>
            <a:ext cx="404703" cy="404713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7518" y="3043238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31320" y="3436461"/>
            <a:ext cx="195079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Present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31320" y="3878084"/>
            <a:ext cx="195079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 duration, ETA, route, traffic status, and weather.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9585" y="4910534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183A13"/>
          </a:solidFill>
          <a:ln/>
        </p:spPr>
      </p:sp>
      <p:sp>
        <p:nvSpPr>
          <p:cNvPr id="27" name="Text 24"/>
          <p:cNvSpPr/>
          <p:nvPr/>
        </p:nvSpPr>
        <p:spPr>
          <a:xfrm>
            <a:off x="812780" y="5169614"/>
            <a:ext cx="1117572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 makes assumptions explicit, compares model behavior, and can adapt as better data becomes available.</a:t>
            </a:r>
            <a:endParaRPr lang="en-US" sz="16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08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Architecture separates training from live prediction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2473920"/>
            <a:ext cx="5915869" cy="33019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598187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 produces candidate models; live prediction supplies current journey context.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80899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09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repeatable workflow turns raw journey data into predictions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98030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7484" y="2480588"/>
            <a:ext cx="491596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Inspect the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7484" y="2922210"/>
            <a:ext cx="49159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a suitable historical dataset; explore missing values, outliers, and inconsistencies.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8244" y="2498030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1464" y="2480588"/>
            <a:ext cx="488064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Build the 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01464" y="2922210"/>
            <a:ext cx="488064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 distance, traffic, weather, day, and departure-time features; encode categorical features and scale numerical features where appropriate.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585" y="4099322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5285" y="4081879"/>
            <a:ext cx="487816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Split responsibly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5285" y="4523502"/>
            <a:ext cx="487816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Split training, validation, and test data, respecting chronology when appropriate.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8244" y="4099322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17338" y="4081879"/>
            <a:ext cx="486477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Train and tune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17338" y="4523502"/>
            <a:ext cx="486477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 Ridge and Lasso Regression; tune regularization with validation or cross-validation.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5416153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65087" y="5398710"/>
            <a:ext cx="105170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Evaluate and integrate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65087" y="5840333"/>
            <a:ext cx="10517024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Evaluate with MAE, RMSE, and R² Score; select the better-supported model, then integrate it and visualize predictions.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105" y="6148698"/>
            <a:ext cx="1722590" cy="709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10 · PROPOSED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proposed stack keeps the system modular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7380" y="2658388"/>
            <a:ext cx="31495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Build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7380" y="3100010"/>
            <a:ext cx="31495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Python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machine learning; HTML, CSS, and JavaScript or a suitable frontend framework.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9489" y="2473920"/>
            <a:ext cx="3352716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7285" y="2658388"/>
            <a:ext cx="29971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Serve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285" y="3100010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Responsive web interface with Flask or FastAPI as a possible prediction API.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76998" y="2473920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4793" y="2658388"/>
            <a:ext cx="31495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54793" y="3100010"/>
            <a:ext cx="31495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scikit-learn, pandas, NumPy; Matplotlib or Seaborn for exploratory analysis.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5" y="4430911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380" y="4615378"/>
            <a:ext cx="31495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Persist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7380" y="5057001"/>
            <a:ext cx="31495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suitable database if historical records, preferences, or logs require persistence.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19489" y="4430911"/>
            <a:ext cx="3352716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7285" y="4615378"/>
            <a:ext cx="29971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Connect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97285" y="5057001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Mapbox or Google Maps, plus traffic and weather providers subject to access and availability.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76998" y="4430911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4793" y="4615378"/>
            <a:ext cx="314952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Collaborate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54793" y="5057001"/>
            <a:ext cx="314952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VS Code, Git, and GitHub are proposed development tools, not proof of implementation.</a:t>
            </a:r>
            <a:endParaRPr lang="en-US" sz="16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719" y="6248884"/>
            <a:ext cx="1479281" cy="609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26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11 · SYSTEM MODULES / COMPONENTS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12029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Eight modules, one prediction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489373"/>
            <a:ext cx="5371966" cy="3466604"/>
          </a:xfrm>
          <a:prstGeom prst="roundRect">
            <a:avLst>
              <a:gd name="adj" fmla="val 2462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1667173"/>
            <a:ext cx="5016375" cy="25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User Interface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accepts source, destination, departure day, and departure time.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Collection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retrieves route distance and available traffic and weather information.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Preprocessing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handles missing values, validates inputs, encodes categorical variables, and prepares model features.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Core Machine Learning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trains and runs Ridge Regression and Lasso Regression.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0145" y="1489373"/>
            <a:ext cx="5371966" cy="3466604"/>
          </a:xfrm>
          <a:prstGeom prst="roundRect">
            <a:avLst>
              <a:gd name="adj" fmla="val 2462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7940" y="1667173"/>
            <a:ext cx="5016375" cy="311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Database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can store historical journeys, model inputs, predictions, preferences, and logs when persistence is required.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Prediction and Decision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converts model output into estimated duration and ETA.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Visualization and Reporting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presents route, duration, traffic status, weather context, and model comparison.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Authentication and Security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protects user access, validates requests, and limits exposure of stored information.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505" y="6059136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6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12 · DATA 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One flow supports both live prediction and historical records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65933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50393"/>
            <a:ext cx="2011610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9587"/>
            <a:ext cx="201161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Capture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906554"/>
            <a:ext cx="201161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day, and departure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49690" y="2065933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49690" y="2350393"/>
            <a:ext cx="2011610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0" name="Text 8"/>
          <p:cNvSpPr/>
          <p:nvPr/>
        </p:nvSpPr>
        <p:spPr>
          <a:xfrm>
            <a:off x="2849690" y="2509587"/>
            <a:ext cx="201170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Collect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49690" y="2906554"/>
            <a:ext cx="2011709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Route, distance, traffic, and weather context when available.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9894" y="2065933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9894" y="2350393"/>
            <a:ext cx="2011808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4" name="Text 12"/>
          <p:cNvSpPr/>
          <p:nvPr/>
        </p:nvSpPr>
        <p:spPr>
          <a:xfrm>
            <a:off x="5089894" y="2509587"/>
            <a:ext cx="201180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89894" y="2906554"/>
            <a:ext cx="201180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Validate and convert inputs into the trained feature format.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30197" y="2065933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30197" y="2350393"/>
            <a:ext cx="2011610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8" name="Text 16"/>
          <p:cNvSpPr/>
          <p:nvPr/>
        </p:nvSpPr>
        <p:spPr>
          <a:xfrm>
            <a:off x="7330197" y="2509587"/>
            <a:ext cx="201170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Predict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30197" y="2906554"/>
            <a:ext cx="2011709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Ridge and Lasso predictions through the model service.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70401" y="2065933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70401" y="2350393"/>
            <a:ext cx="2011610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22" name="Text 20"/>
          <p:cNvSpPr/>
          <p:nvPr/>
        </p:nvSpPr>
        <p:spPr>
          <a:xfrm>
            <a:off x="9570401" y="2509587"/>
            <a:ext cx="201170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Return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70401" y="2906554"/>
            <a:ext cx="2011709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Duration, ETA, route context, and a concise explanation.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585" y="4181475"/>
            <a:ext cx="10972526" cy="772120"/>
          </a:xfrm>
          <a:prstGeom prst="roundRect">
            <a:avLst>
              <a:gd name="adj" fmla="val 11053"/>
            </a:avLst>
          </a:prstGeom>
          <a:solidFill>
            <a:srgbClr val="022349"/>
          </a:solidFill>
          <a:ln/>
        </p:spPr>
      </p:sp>
      <p:sp>
        <p:nvSpPr>
          <p:cNvPr id="25" name="Text 23"/>
          <p:cNvSpPr/>
          <p:nvPr/>
        </p:nvSpPr>
        <p:spPr>
          <a:xfrm>
            <a:off x="812780" y="4445635"/>
            <a:ext cx="1117572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same flow supports a live prediction request and a stored historical record.</a:t>
            </a:r>
            <a:endParaRPr lang="en-US" sz="1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67073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7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13 · DATASET AND FEATURE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Feature design links journey context to observed duration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97365" cy="1238151"/>
          </a:xfrm>
          <a:prstGeom prst="roundRect">
            <a:avLst>
              <a:gd name="adj" fmla="val 6893"/>
            </a:avLst>
          </a:prstGeom>
          <a:solidFill>
            <a:srgbClr val="155F56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211236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Journey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981" y="2608203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route distance, departure day, and departure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40533"/>
            <a:ext cx="5397365" cy="1238151"/>
          </a:xfrm>
          <a:prstGeom prst="roundRect">
            <a:avLst>
              <a:gd name="adj" fmla="val 6893"/>
            </a:avLst>
          </a:prstGeom>
          <a:solidFill>
            <a:srgbClr val="155F56"/>
          </a:solidFill>
          <a:ln/>
        </p:spPr>
      </p:sp>
      <p:sp>
        <p:nvSpPr>
          <p:cNvPr id="8" name="Text 6"/>
          <p:cNvSpPr/>
          <p:nvPr/>
        </p:nvSpPr>
        <p:spPr>
          <a:xfrm>
            <a:off x="6337141" y="2211236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Context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7141" y="2608203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Available traffic indicators, weather conditions, and other route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456384"/>
            <a:ext cx="5397365" cy="1502271"/>
          </a:xfrm>
          <a:prstGeom prst="roundRect">
            <a:avLst>
              <a:gd name="adj" fmla="val 5681"/>
            </a:avLst>
          </a:prstGeom>
          <a:solidFill>
            <a:srgbClr val="155F56"/>
          </a:solidFill>
          <a:ln/>
        </p:spPr>
      </p:sp>
      <p:sp>
        <p:nvSpPr>
          <p:cNvPr id="11" name="Text 9"/>
          <p:cNvSpPr/>
          <p:nvPr/>
        </p:nvSpPr>
        <p:spPr>
          <a:xfrm>
            <a:off x="761981" y="3627088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Target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024055"/>
            <a:ext cx="524496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Observed travel duration in the historical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456384"/>
            <a:ext cx="5397365" cy="1502271"/>
          </a:xfrm>
          <a:prstGeom prst="roundRect">
            <a:avLst>
              <a:gd name="adj" fmla="val 5681"/>
            </a:avLst>
          </a:prstGeom>
          <a:solidFill>
            <a:srgbClr val="155F56"/>
          </a:solidFill>
          <a:ln/>
        </p:spPr>
      </p:sp>
      <p:sp>
        <p:nvSpPr>
          <p:cNvPr id="14" name="Text 12"/>
          <p:cNvSpPr/>
          <p:nvPr/>
        </p:nvSpPr>
        <p:spPr>
          <a:xfrm>
            <a:off x="6337141" y="3627088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Feature preparation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37141" y="4024055"/>
            <a:ext cx="5092573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Encode categorical inputs, scale numerical inputs where appropriate, and keep training and prediction columns aligned.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5136356"/>
            <a:ext cx="10972526" cy="974030"/>
          </a:xfrm>
          <a:prstGeom prst="roundRect">
            <a:avLst>
              <a:gd name="adj" fmla="val 8762"/>
            </a:avLst>
          </a:prstGeom>
          <a:solidFill>
            <a:srgbClr val="155F56"/>
          </a:solidFill>
          <a:ln/>
        </p:spPr>
      </p:sp>
      <p:sp>
        <p:nvSpPr>
          <p:cNvPr id="17" name="Text 15"/>
          <p:cNvSpPr/>
          <p:nvPr/>
        </p:nvSpPr>
        <p:spPr>
          <a:xfrm>
            <a:off x="761981" y="5307059"/>
            <a:ext cx="106677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Data quality checks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1981" y="5704026"/>
            <a:ext cx="1082012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Inspect missing values, outliers, inconsistent units, and unusual journeys before modeling.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834" y="6223336"/>
            <a:ext cx="1517759" cy="62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7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14 · PREPROCESSING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One reproducible pipeline should serve every modeling stage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65933"/>
            <a:ext cx="82428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50393"/>
            <a:ext cx="2031850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09587"/>
            <a:ext cx="20319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Validate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906554"/>
            <a:ext cx="2031949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Check required fields, ranges, units, and timestamp formats.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44630" y="2065933"/>
            <a:ext cx="859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44630" y="2350393"/>
            <a:ext cx="2032048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0" name="Text 8"/>
          <p:cNvSpPr/>
          <p:nvPr/>
        </p:nvSpPr>
        <p:spPr>
          <a:xfrm>
            <a:off x="2844630" y="2509587"/>
            <a:ext cx="20320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Clean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44630" y="2906554"/>
            <a:ext cx="20320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 missing values and remove or review inconsistent records.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9774" y="2065933"/>
            <a:ext cx="86209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9774" y="2350393"/>
            <a:ext cx="2032048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4" name="Text 12"/>
          <p:cNvSpPr/>
          <p:nvPr/>
        </p:nvSpPr>
        <p:spPr>
          <a:xfrm>
            <a:off x="5079774" y="2509587"/>
            <a:ext cx="20320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Encode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79774" y="2906554"/>
            <a:ext cx="20320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 route, weekday, weather, and traffic categories.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4918" y="2065933"/>
            <a:ext cx="87548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4918" y="2350393"/>
            <a:ext cx="2032048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4918" y="2509587"/>
            <a:ext cx="20320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Scale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4918" y="2906554"/>
            <a:ext cx="203204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Standardize numerical features when the pipeline requires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0062" y="2065933"/>
            <a:ext cx="86189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50062" y="2350393"/>
            <a:ext cx="2032048" cy="1905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22" name="Text 20"/>
          <p:cNvSpPr/>
          <p:nvPr/>
        </p:nvSpPr>
        <p:spPr>
          <a:xfrm>
            <a:off x="9550062" y="2509587"/>
            <a:ext cx="203204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Split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50062" y="2906554"/>
            <a:ext cx="2032048" cy="132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 training, validation, and test sets; respect chronology when appropriate.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4481155"/>
            <a:ext cx="1158211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the same preprocessing logic for training, validation, testing, and live inference.</a:t>
            </a:r>
            <a:endParaRPr lang="en-US" sz="16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59136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9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15 · RIDGE AND LASSO REGRESSION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Two regularizers control overfitting in different 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84665" cy="2289770"/>
          </a:xfrm>
          <a:prstGeom prst="roundRect">
            <a:avLst>
              <a:gd name="adj" fmla="val 3727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236636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Ridge Regression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2623443"/>
            <a:ext cx="5029074" cy="8751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634423"/>
            <a:ext cx="502907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Adds an L2 penalty to reduce sensitivity to correlated features and stabilize coefficients.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7445" y="2040533"/>
            <a:ext cx="5384665" cy="2289770"/>
          </a:xfrm>
          <a:prstGeom prst="roundRect">
            <a:avLst>
              <a:gd name="adj" fmla="val 3727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5241" y="2236636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Lasso Regression</a:t>
            </a:r>
            <a:endParaRPr lang="en-US" sz="2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241" y="2623443"/>
            <a:ext cx="5029074" cy="8751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5241" y="3634423"/>
            <a:ext cx="502907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Adds an L1 penalty that can shrink some coefficients to zero and support feature selection.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9585" y="4569063"/>
            <a:ext cx="1097252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Shared goal: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predict travel duration while controlling overfitting. Tune regularization strength with validation or cross-validation on the prepared feature set.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59136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0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26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16 · TRAINING AND EVALUATION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120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Evaluation turns two candidate models into an evidence-based choice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64333"/>
            <a:ext cx="4622684" cy="317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Train: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fit both models on the prepared training data.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Tune: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select regularization settings using validation or cross-validation.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Measure: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report MAE, RMSE, and R² Score on held-out data.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Inspect: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review residuals, large errors, and performance across different journey conditions.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Record: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preserve the chosen model, preprocessing steps, feature order, and evaluation results.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36962" y="1984145"/>
            <a:ext cx="604514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Model evaluation comparison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/>
          </p:nvPr>
        </p:nvGraphicFramePr>
        <p:xfrm>
          <a:off x="5536962" y="2425303"/>
          <a:ext cx="6045148" cy="1744620"/>
        </p:xfrm>
        <a:graphic>
          <a:graphicData uri="http://schemas.openxmlformats.org/drawingml/2006/table">
            <a:tbl>
              <a:tblPr/>
              <a:tblGrid>
                <a:gridCol w="2014983"/>
                <a:gridCol w="2014983"/>
                <a:gridCol w="2015182"/>
              </a:tblGrid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Metric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Ridge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Lasso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MAE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RMSE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R² Score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536962" y="4305836"/>
            <a:ext cx="604514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Replace placeholders with the project's measured results.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23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17 · MODEL COMPARISON AND DECISION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final model is the best-supported trade-off, not an assumed winner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65933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262036"/>
            <a:ext cx="50417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Prefer lower error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7380" y="2659003"/>
            <a:ext cx="521956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MAE and RMSE indicate smaller prediction mistakes.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65933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541" y="2262036"/>
            <a:ext cx="50417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Prefer stronger fit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62541" y="2659003"/>
            <a:ext cx="504177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higher R² Score indicates more variance explained on the evaluation set.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532684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80" y="3728787"/>
            <a:ext cx="50417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Check stability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7380" y="4125754"/>
            <a:ext cx="521956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validation and test behavior, not one score alone.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532684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541" y="3728787"/>
            <a:ext cx="50417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Explain the choice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62541" y="4125754"/>
            <a:ext cx="5041774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 the model with the best supported balance of accuracy, stability, and interpretability.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5050234"/>
            <a:ext cx="10972526" cy="772120"/>
          </a:xfrm>
          <a:prstGeom prst="roundRect">
            <a:avLst>
              <a:gd name="adj" fmla="val 11053"/>
            </a:avLst>
          </a:prstGeom>
          <a:solidFill>
            <a:srgbClr val="4B3F02"/>
          </a:solidFill>
          <a:ln/>
        </p:spPr>
      </p:sp>
      <p:sp>
        <p:nvSpPr>
          <p:cNvPr id="17" name="Text 15"/>
          <p:cNvSpPr/>
          <p:nvPr/>
        </p:nvSpPr>
        <p:spPr>
          <a:xfrm>
            <a:off x="812780" y="5314394"/>
            <a:ext cx="11175720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model selection should be based on the project's measured results, not an assumed winner.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83282"/>
            <a:ext cx="1940098" cy="79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36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6705432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18 · USER INTERFACE AND OUTPUT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6273643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clear result card makes the prediction actionable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515493"/>
            <a:ext cx="3073323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711596"/>
            <a:ext cx="27177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Inputs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7380" y="3108563"/>
            <a:ext cx="271773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departure day, and departure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905" y="2515493"/>
            <a:ext cx="3073323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7700" y="2711596"/>
            <a:ext cx="27177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87700" y="3108563"/>
            <a:ext cx="271773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Estimated travel duration and expected arrival 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931444"/>
            <a:ext cx="3073323" cy="1553071"/>
          </a:xfrm>
          <a:prstGeom prst="roundRect">
            <a:avLst>
              <a:gd name="adj" fmla="val 5495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80" y="4127547"/>
            <a:ext cx="27177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7380" y="4524514"/>
            <a:ext cx="271773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distance plus available traffic and weather information.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905" y="3931444"/>
            <a:ext cx="3073323" cy="1553071"/>
          </a:xfrm>
          <a:prstGeom prst="roundRect">
            <a:avLst>
              <a:gd name="adj" fmla="val 5495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7700" y="4127547"/>
            <a:ext cx="27177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7700" y="4524514"/>
            <a:ext cx="271773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Selected model, key inputs, and a note that the estimate depends on data availability.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5647075"/>
            <a:ext cx="627364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Reporting should combine route summary, conditions, and optional model-comparison details in a readable result card.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93" y="6470551"/>
            <a:ext cx="691934" cy="1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0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19 · LIMITATIONS AND FUTURE SCOPE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Coverage and changing conditions define the next engineering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97365" cy="1238151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211236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Data availability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981" y="2608203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Traffic and weather coverage may be incomplete, delayed, or provider-dependent.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40533"/>
            <a:ext cx="5397365" cy="1238151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8" name="Text 6"/>
          <p:cNvSpPr/>
          <p:nvPr/>
        </p:nvSpPr>
        <p:spPr>
          <a:xfrm>
            <a:off x="6337141" y="2211236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Unusual events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7141" y="2608203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Accidents, road closures, festivals, and rare conditions may be difficult to represent.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456384"/>
            <a:ext cx="5397365" cy="1238151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1" name="Text 9"/>
          <p:cNvSpPr/>
          <p:nvPr/>
        </p:nvSpPr>
        <p:spPr>
          <a:xfrm>
            <a:off x="761981" y="3627088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Generalization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024055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New routes or changing travel patterns may reduce reliability.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456384"/>
            <a:ext cx="5397365" cy="1238151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4" name="Text 12"/>
          <p:cNvSpPr/>
          <p:nvPr/>
        </p:nvSpPr>
        <p:spPr>
          <a:xfrm>
            <a:off x="6337141" y="3627088"/>
            <a:ext cx="509257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37141" y="4024055"/>
            <a:ext cx="5092573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richer live feeds, broader historical data, stronger temporal validation, and model-drift monitoring.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4872236"/>
            <a:ext cx="10972526" cy="974030"/>
          </a:xfrm>
          <a:prstGeom prst="rect">
            <a:avLst/>
          </a:prstGeom>
          <a:solidFill>
            <a:srgbClr val="43D4C3"/>
          </a:solidFill>
          <a:ln/>
        </p:spPr>
      </p:sp>
      <p:sp>
        <p:nvSpPr>
          <p:cNvPr id="17" name="Text 15"/>
          <p:cNvSpPr/>
          <p:nvPr/>
        </p:nvSpPr>
        <p:spPr>
          <a:xfrm>
            <a:off x="761981" y="5042939"/>
            <a:ext cx="1066773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Responsible use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1981" y="5439906"/>
            <a:ext cx="1082012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 predictions as estimates, not guarantees.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335" y="6222086"/>
            <a:ext cx="1544359" cy="63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09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12029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 smtClean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SCREENSHOTS OF IMPLEMENTATION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64333"/>
            <a:ext cx="4622684" cy="317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08" y="1406602"/>
            <a:ext cx="9753600" cy="528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41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1433901"/>
            <a:ext cx="10362941" cy="22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20 · CONCLUSION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219170" y="1783281"/>
            <a:ext cx="9753356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Travel time depends on route, traffic, weather, calendar, and departure context—not distance alone.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19170" y="3649305"/>
            <a:ext cx="9753356" cy="1526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system connects journey inputs and available context to a repeatable prediction workflow.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Ridge and Lasso provide a focused comparison of regularized linear regression for travel-duration prediction.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MAE, RMSE, and R² Score support evidence-based model selection.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next step is to complete the dataset, run the evaluation, and validate the system with representative journeys.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19170" y="5175587"/>
            <a:ext cx="10362941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Project: Travel Time Prediction Using Ridge and Lasso Regression · KLH Bachupally · Academic Year 2026–2027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859" y="6278589"/>
            <a:ext cx="1407141" cy="57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12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1817</Words>
  <Application>Microsoft Office PowerPoint</Application>
  <PresentationFormat>Widescreen</PresentationFormat>
  <Paragraphs>273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</vt:lpstr>
      <vt:lpstr>Cabin Bold</vt:lpstr>
      <vt:lpstr>Cabin Medium</vt:lpstr>
      <vt:lpstr>Arial</vt:lpstr>
      <vt:lpstr>Cabin SemiBold</vt:lpstr>
      <vt:lpstr>Unbounded SemiBold</vt:lpstr>
      <vt:lpstr>Cabin</vt:lpstr>
      <vt:lpstr>Unbounded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3</cp:revision>
  <dcterms:created xsi:type="dcterms:W3CDTF">2026-10-14T00:06:20Z</dcterms:created>
  <dcterms:modified xsi:type="dcterms:W3CDTF">2026-10-14T00:38:44Z</dcterms:modified>
</cp:coreProperties>
</file>